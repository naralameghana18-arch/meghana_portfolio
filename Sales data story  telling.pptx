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A3108-0732-4040-849C-61532293F095}" v="2" dt="2026-04-08T07:03:54.3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 Narala" userId="96a13fc672262b0e" providerId="LiveId" clId="{8D494D13-9604-4E3F-BB2F-ABDFE6BAFD9C}"/>
    <pc:docChg chg="custSel addSld modSld sldOrd">
      <pc:chgData name="Meghana Narala" userId="96a13fc672262b0e" providerId="LiveId" clId="{8D494D13-9604-4E3F-BB2F-ABDFE6BAFD9C}" dt="2026-04-08T07:03:54.359" v="42" actId="27636"/>
      <pc:docMkLst>
        <pc:docMk/>
      </pc:docMkLst>
      <pc:sldChg chg="modSp new mod ord">
        <pc:chgData name="Meghana Narala" userId="96a13fc672262b0e" providerId="LiveId" clId="{8D494D13-9604-4E3F-BB2F-ABDFE6BAFD9C}" dt="2026-04-08T07:03:12.687" v="29" actId="14100"/>
        <pc:sldMkLst>
          <pc:docMk/>
          <pc:sldMk cId="2275225434" sldId="268"/>
        </pc:sldMkLst>
        <pc:spChg chg="mod">
          <ac:chgData name="Meghana Narala" userId="96a13fc672262b0e" providerId="LiveId" clId="{8D494D13-9604-4E3F-BB2F-ABDFE6BAFD9C}" dt="2026-04-08T07:02:45.670" v="19" actId="20577"/>
          <ac:spMkLst>
            <pc:docMk/>
            <pc:sldMk cId="2275225434" sldId="268"/>
            <ac:spMk id="2" creationId="{7480D4B9-94F9-88AB-6141-9B2707BFBD50}"/>
          </ac:spMkLst>
        </pc:spChg>
        <pc:spChg chg="mod">
          <ac:chgData name="Meghana Narala" userId="96a13fc672262b0e" providerId="LiveId" clId="{8D494D13-9604-4E3F-BB2F-ABDFE6BAFD9C}" dt="2026-04-08T07:03:12.687" v="29" actId="14100"/>
          <ac:spMkLst>
            <pc:docMk/>
            <pc:sldMk cId="2275225434" sldId="268"/>
            <ac:spMk id="3" creationId="{D4E21617-0C1F-7FFC-723D-598F42B51ACC}"/>
          </ac:spMkLst>
        </pc:spChg>
      </pc:sldChg>
      <pc:sldChg chg="modSp new mod">
        <pc:chgData name="Meghana Narala" userId="96a13fc672262b0e" providerId="LiveId" clId="{8D494D13-9604-4E3F-BB2F-ABDFE6BAFD9C}" dt="2026-04-08T07:03:54.359" v="42" actId="27636"/>
        <pc:sldMkLst>
          <pc:docMk/>
          <pc:sldMk cId="3004965996" sldId="269"/>
        </pc:sldMkLst>
        <pc:spChg chg="mod">
          <ac:chgData name="Meghana Narala" userId="96a13fc672262b0e" providerId="LiveId" clId="{8D494D13-9604-4E3F-BB2F-ABDFE6BAFD9C}" dt="2026-04-08T07:03:35.886" v="40" actId="20577"/>
          <ac:spMkLst>
            <pc:docMk/>
            <pc:sldMk cId="3004965996" sldId="269"/>
            <ac:spMk id="2" creationId="{0B9988D2-C71E-A91C-ED75-C66BC985152B}"/>
          </ac:spMkLst>
        </pc:spChg>
        <pc:spChg chg="mod">
          <ac:chgData name="Meghana Narala" userId="96a13fc672262b0e" providerId="LiveId" clId="{8D494D13-9604-4E3F-BB2F-ABDFE6BAFD9C}" dt="2026-04-08T07:03:54.359" v="42" actId="27636"/>
          <ac:spMkLst>
            <pc:docMk/>
            <pc:sldMk cId="3004965996" sldId="269"/>
            <ac:spMk id="3" creationId="{F2EA03A9-2839-CDAA-ED22-29E61F40D50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eghana\OneDrive\Desktop\Sales%20dashboard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eghana\OneDrive\Desktop\Sales%20dashboard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eghana\OneDrive\Desktop\Sales%20dashboard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eghana\OneDrive\Desktop\Sales%20dashboard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dashboard analysis.xlsx]Sales by category!PivotTable1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Sales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'[Sales dashboard analysis.xlsx]Sales by category'!$B$3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'[Sales dashboard analysis.xlsx]Sales by category'!$A$4:$A$7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'[Sales dashboard analysis.xlsx]Sales by category'!$B$4:$B$7</c:f>
              <c:numCache>
                <c:formatCode>General</c:formatCode>
                <c:ptCount val="3"/>
                <c:pt idx="0">
                  <c:v>728658.57570000004</c:v>
                </c:pt>
                <c:pt idx="1">
                  <c:v>705422.33400000294</c:v>
                </c:pt>
                <c:pt idx="2">
                  <c:v>827455.87299999699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6A-4D02-A85D-04E4A78D1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448340184"/>
        <c:axId val="274859219"/>
      </c:barChart>
      <c:catAx>
        <c:axId val="4483401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859219"/>
        <c:crosses val="autoZero"/>
        <c:auto val="1"/>
        <c:lblAlgn val="ctr"/>
        <c:lblOffset val="100"/>
        <c:noMultiLvlLbl val="0"/>
      </c:catAx>
      <c:valAx>
        <c:axId val="2748592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8340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4cba765-08a4-4606-b757-1c8ddb7b86e8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dashboard analysis.xlsx]Sales by region!PivotTable3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Sales by region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'[Sales dashboard analysis.xlsx]Sales by region'!$B$3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'[Sales dashboard analysis.xlsx]Sales by region'!$A$4:$A$8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'[Sales dashboard analysis.xlsx]Sales by region'!$B$4:$B$8</c:f>
              <c:numCache>
                <c:formatCode>General</c:formatCode>
                <c:ptCount val="4"/>
                <c:pt idx="0">
                  <c:v>492646.913200001</c:v>
                </c:pt>
                <c:pt idx="1">
                  <c:v>669518.72599999805</c:v>
                </c:pt>
                <c:pt idx="2">
                  <c:v>389151.45899999997</c:v>
                </c:pt>
                <c:pt idx="3">
                  <c:v>710219.68449999997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EC-468F-8D2F-BA6F9D1E17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179476937"/>
        <c:axId val="764160121"/>
      </c:barChart>
      <c:catAx>
        <c:axId val="17947693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4160121"/>
        <c:crosses val="autoZero"/>
        <c:auto val="1"/>
        <c:lblAlgn val="ctr"/>
        <c:lblOffset val="100"/>
        <c:noMultiLvlLbl val="0"/>
      </c:catAx>
      <c:valAx>
        <c:axId val="76416012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47693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e42f237-2491-4f61-9781-9380f5e72c08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dashboard analysis.xlsx]Sales by segment!PivotTable4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Sales by segment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'[Sales dashboard analysis.xlsx]Sales by segment'!$B$3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27-44F5-A731-9285D05EF5E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27-44F5-A731-9285D05EF5E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27-44F5-A731-9285D05EF5EB}"/>
              </c:ext>
            </c:extLst>
          </c:dPt>
          <c:cat>
            <c:strRef>
              <c:f>'[Sales dashboard analysis.xlsx]Sales by segment'!$A$4:$A$7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'[Sales dashboard analysis.xlsx]Sales by segment'!$B$4:$B$7</c:f>
              <c:numCache>
                <c:formatCode>General</c:formatCode>
                <c:ptCount val="3"/>
                <c:pt idx="0">
                  <c:v>1148060.5309999899</c:v>
                </c:pt>
                <c:pt idx="1">
                  <c:v>688494.07479999994</c:v>
                </c:pt>
                <c:pt idx="2">
                  <c:v>424982.17690000002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27-44F5-A731-9285D05EF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ac41c90-8396-4509-95c7-89c7289bcd6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dashboard analysis.xlsx]Sales by year!PivotTable2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Sales by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'[Sales dashboard analysis.xlsx]Sales by year'!$B$3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'[Sales dashboard analysis.xlsx]Sales by year'!$A$4:$A$8</c:f>
              <c:strCach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strCache>
            </c:strRef>
          </c:cat>
          <c:val>
            <c:numRef>
              <c:f>'[Sales dashboard analysis.xlsx]Sales by year'!$B$4:$B$8</c:f>
              <c:numCache>
                <c:formatCode>General</c:formatCode>
                <c:ptCount val="4"/>
                <c:pt idx="0">
                  <c:v>479856.20810000098</c:v>
                </c:pt>
                <c:pt idx="1">
                  <c:v>459436.00540000002</c:v>
                </c:pt>
                <c:pt idx="2">
                  <c:v>600192.55000000098</c:v>
                </c:pt>
                <c:pt idx="3">
                  <c:v>722052.01919999998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BE-4CEA-A013-93D46E4A8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64132"/>
        <c:axId val="487822730"/>
      </c:lineChart>
      <c:catAx>
        <c:axId val="1246413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822730"/>
        <c:crosses val="autoZero"/>
        <c:auto val="1"/>
        <c:lblAlgn val="ctr"/>
        <c:lblOffset val="100"/>
        <c:noMultiLvlLbl val="0"/>
      </c:catAx>
      <c:valAx>
        <c:axId val="48782273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641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3ca3ea-b2ac-444b-9d5b-24e435b74036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F92B-78E6-9E2C-F579-A1E80DA9F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BF5C2-6D68-02B4-66A1-71002043C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B3B53-C8D8-A3B2-A1DF-E2CC5381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79E23-6252-497B-4697-16BCE79B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46275-D400-87C6-6709-B3D83C6C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2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7E1A-64C2-B0A5-DB6A-5A8CDDCD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53FBD-6821-8A61-0C8E-FAFF3E0A5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272D2-16FE-8AF7-ABE8-2D944FA7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1A0C-528F-0DDF-DB4A-F0CC1EA9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4A2FD-7E79-2909-D92E-88A748B3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32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31E6-B4AF-5A88-E528-24C94117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76A3A-ACFE-1D89-2F4C-A6E8D193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2B525-59B7-E7A1-28B4-6FBE1691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2DA68-AD58-1781-8D22-39704FEFB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49947-DD56-C23C-F4C9-C3071E79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45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0E39-0E8B-A65C-E250-40ECFB27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9B82A-BFC8-E785-7218-F7C2DBF7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B7AFC-60A5-0FFA-91E1-BBBE10E9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2FF6F-A21B-DB13-0F6A-61073CF89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836D9-0191-E804-1C17-6D23F158B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77097-E517-333A-895B-58782366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96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6247-AB4C-96D8-70C6-3EAAD679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4BAAE-061A-812B-462F-308E6EC63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F4514-899F-ADCC-1363-961DA5FF0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3C3EC-001E-11A5-92C6-667D509D0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475BE-36F1-8BEB-7E5C-F44BC0CD8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DCAD25-EA4D-F10A-7B52-59E5FFED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89ADE-C4E9-7136-418F-9B93CA12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78C6D-E1C2-4FA9-92FA-AEDB4E98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42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46DA-7EDA-FC34-5BF8-B667D665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62A28-1B46-97F3-9CC4-6E39CD3B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D7807-1DC1-BB12-2B60-07032D1E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A319F-96E6-BA24-7936-BC9B0D27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58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C24DB-D916-2F3F-F13F-52BAAE90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269BD-9AA8-DFFD-3D2A-6E461C25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8DBF5-4E23-288F-B0E6-5DE9D34D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5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3281-8923-2F14-07A2-EF35D8886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F4AA0-0FA7-2C02-E98B-8E7F46CE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2DF61-738F-8C70-515F-66018E339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F96B7-C78C-8BD2-D58F-7CAFCBA0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85EB9-0618-FC3C-4965-FD844C8B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12936-330C-67EE-89F3-D6530D5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33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8EF2-30E2-B120-BEE4-6F8108D3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4B089-4326-F3F1-301A-C8D96C240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5DE07-BAFE-10C2-D994-7AE77B52A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38668-6DE5-A95D-D8D8-C7ADFDBB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B3386-D25C-1C9B-E2A9-B67C464B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64464-E947-A78C-8B56-149E434D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2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8BDB-574A-4338-378F-73B878AC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DF6BC-16F3-D693-B702-94E339FB4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E6764-74F5-0D92-E9CE-69461C50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AD5D1-A33B-B3F4-693C-F6E1998F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2F87A-807D-2D43-EF96-D7ED8D5C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98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57766-1716-6DBC-1714-F06F53A20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CA54C-A127-1C64-426F-F17A4E25C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C802E-B4DD-4809-FE74-DD81121E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0F74-414D-160C-336D-8EE832B5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6CFD5-A74F-33BE-28B0-9FC21BAF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61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8668D-A9BF-72B5-411B-AF51CC53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E4436-A63A-CCF6-6761-6669A4EBE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3F7C-FC79-69B6-72A0-B7A4045B4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D8FE5-3546-4AD3-9521-5C7613F25353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3787B-B6B5-FC96-FA7C-659F5232A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72D84-D022-3934-C126-C7DE7080F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BB507-44AD-4BCB-B22F-D2EBBBEA5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0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F318-EC08-A495-DD9E-6E16CA6AC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TITLE: Sales Performance Analysis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7C44D-0655-FBA0-1DE4-4890D8151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analytics Internship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74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0D4B9-94F9-88AB-6141-9B2707BF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21617-0C1F-7FFC-723D-598F42B51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464721"/>
            <a:ext cx="9790471" cy="2313756"/>
          </a:xfrm>
        </p:spPr>
        <p:txBody>
          <a:bodyPr>
            <a:normAutofit/>
          </a:bodyPr>
          <a:lstStyle/>
          <a:p>
            <a:r>
              <a:rPr lang="en-US" dirty="0"/>
              <a:t>The objective of this project is to analyze sales data and identify key trends in product categories, regions, and customer segments. </a:t>
            </a:r>
          </a:p>
          <a:p>
            <a:r>
              <a:rPr lang="en-US" dirty="0"/>
              <a:t>The goal is to understand sales performance and generate insights that help improve business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5225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A482-2EB0-2617-096D-ADD1C51B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B206-4089-3863-B116-1A4E06EC0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Dataset contains order information including: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Customer Segment</a:t>
            </a:r>
          </a:p>
          <a:p>
            <a:r>
              <a:rPr lang="en-US" dirty="0"/>
              <a:t>Sales</a:t>
            </a:r>
          </a:p>
          <a:p>
            <a:r>
              <a:rPr lang="en-US" dirty="0"/>
              <a:t>Order Year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662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BDE24-8C36-91D7-2022-9625C5BD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B63E7-DD9D-4F30-A411-42A438DF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Sales</a:t>
            </a:r>
          </a:p>
          <a:p>
            <a:r>
              <a:rPr lang="en-US" dirty="0"/>
              <a:t>Total Orders</a:t>
            </a:r>
          </a:p>
          <a:p>
            <a:r>
              <a:rPr lang="en-US" dirty="0"/>
              <a:t>Total Customers</a:t>
            </a:r>
          </a:p>
          <a:p>
            <a:r>
              <a:rPr lang="en-US" dirty="0"/>
              <a:t>Average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71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50F3-979D-A973-FB7C-9A04B21D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Category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00BEF6-D5E6-10C7-621E-0D6B1FCA5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531564"/>
              </p:ext>
            </p:extLst>
          </p:nvPr>
        </p:nvGraphicFramePr>
        <p:xfrm>
          <a:off x="838200" y="1825624"/>
          <a:ext cx="8836742" cy="4103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1583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3757-160B-B1E0-4DD7-A638F32B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Region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FA2CDD-D314-0FC2-1108-FB870E351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397508"/>
              </p:ext>
            </p:extLst>
          </p:nvPr>
        </p:nvGraphicFramePr>
        <p:xfrm>
          <a:off x="838200" y="1825625"/>
          <a:ext cx="8984226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6641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E634-332B-0387-1459-08E26688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Segment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39F434-D7A0-436C-0282-49CD5E5D88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081097"/>
              </p:ext>
            </p:extLst>
          </p:nvPr>
        </p:nvGraphicFramePr>
        <p:xfrm>
          <a:off x="838200" y="1825625"/>
          <a:ext cx="8817077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6358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92AF5-423B-70F2-59A4-43511353D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by year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FFCD0F-72CB-6225-2524-A1AA856C2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225214"/>
              </p:ext>
            </p:extLst>
          </p:nvPr>
        </p:nvGraphicFramePr>
        <p:xfrm>
          <a:off x="838200" y="1825625"/>
          <a:ext cx="900389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3208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88D2-C71E-A91C-ED75-C66BC985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03A9-2839-CDAA-ED22-29E61F40D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sales data analysis reveals important patterns in business performance.</a:t>
            </a:r>
          </a:p>
          <a:p>
            <a:endParaRPr lang="en-US" dirty="0"/>
          </a:p>
          <a:p>
            <a:r>
              <a:rPr lang="en-US" dirty="0"/>
              <a:t>Technology category shows the highest sales among all categories. </a:t>
            </a:r>
          </a:p>
          <a:p>
            <a:r>
              <a:rPr lang="en-US" dirty="0"/>
              <a:t>Sales have increased steadily over the years, indicating business growth. </a:t>
            </a:r>
          </a:p>
          <a:p>
            <a:r>
              <a:rPr lang="en-US" dirty="0"/>
              <a:t>The Consumer segment contributes the largest share of revenue.</a:t>
            </a:r>
          </a:p>
          <a:p>
            <a:endParaRPr lang="en-US" dirty="0"/>
          </a:p>
          <a:p>
            <a:r>
              <a:rPr lang="en-US" dirty="0"/>
              <a:t>These insights highlight which areas drive the most business value and where companies should focus their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965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1D2-24BB-C2EC-86C4-E401A1FB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6FA3D-9080-A4F3-7170-758D560B6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Sales trend increased in certain months, indicating higher customer demand during that period. </a:t>
            </a:r>
          </a:p>
          <a:p>
            <a:endParaRPr lang="en-US" dirty="0"/>
          </a:p>
          <a:p>
            <a:r>
              <a:rPr lang="en-US" dirty="0"/>
              <a:t>One category/product generated the highest sales, showing it is the most popular among customers. </a:t>
            </a:r>
          </a:p>
          <a:p>
            <a:endParaRPr lang="en-US" dirty="0"/>
          </a:p>
          <a:p>
            <a:r>
              <a:rPr lang="en-US" dirty="0"/>
              <a:t>Some regions performed better than others, contributing a larger share to total revenue. </a:t>
            </a:r>
          </a:p>
          <a:p>
            <a:endParaRPr lang="en-US" dirty="0"/>
          </a:p>
          <a:p>
            <a:r>
              <a:rPr lang="en-US" dirty="0"/>
              <a:t>A few products had low sales, indicating a need for marketing or improvement. </a:t>
            </a:r>
          </a:p>
          <a:p>
            <a:endParaRPr lang="en-US" dirty="0"/>
          </a:p>
          <a:p>
            <a:r>
              <a:rPr lang="en-US" dirty="0"/>
              <a:t>Overall performance shows steady growth, suggesting positive business 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17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546A-2AC1-797B-9B0D-23BB20B5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8421-6FAF-8B4F-429B-0EE3AB79D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marketing on high-selling products</a:t>
            </a:r>
          </a:p>
          <a:p>
            <a:r>
              <a:rPr lang="en-US" dirty="0"/>
              <a:t>Improve promotions for low-selling items</a:t>
            </a:r>
          </a:p>
          <a:p>
            <a:r>
              <a:rPr lang="en-US" dirty="0"/>
              <a:t>Expand strategies in top-performing regions</a:t>
            </a:r>
          </a:p>
          <a:p>
            <a:r>
              <a:rPr lang="en-US" dirty="0"/>
              <a:t>Use seasonal trends for better sales</a:t>
            </a:r>
          </a:p>
          <a:p>
            <a:r>
              <a:rPr lang="en-US" dirty="0"/>
              <a:t>Analyze customer preferences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51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7E81-C553-B81D-99E0-4B040AAE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89FD0-CAD5-A604-7326-D0D6B3BD0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analysis helped identify key trends in sales and performance.</a:t>
            </a:r>
          </a:p>
          <a:p>
            <a:r>
              <a:rPr lang="en-US" dirty="0"/>
              <a:t>KPI analysis showed which products and regions performed best.</a:t>
            </a:r>
          </a:p>
          <a:p>
            <a:r>
              <a:rPr lang="en-US" dirty="0"/>
              <a:t>Data visualization made it easier to understand business performance.</a:t>
            </a:r>
          </a:p>
          <a:p>
            <a:r>
              <a:rPr lang="en-US" dirty="0"/>
              <a:t>These insights can help the business make better strategic decisions.</a:t>
            </a:r>
          </a:p>
          <a:p>
            <a:r>
              <a:rPr lang="en-US" dirty="0"/>
              <a:t>Implementing the recommendations can improve overall sales and growth.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11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F2CCE-59B6-221D-4509-6E4858DA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313" y="2595050"/>
            <a:ext cx="3055374" cy="1325563"/>
          </a:xfrm>
        </p:spPr>
        <p:txBody>
          <a:bodyPr/>
          <a:lstStyle/>
          <a:p>
            <a:r>
              <a:rPr lang="en-US" dirty="0"/>
              <a:t>THANKYOU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0553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321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TITLE: Sales Performance Analysis Dashboard</vt:lpstr>
      <vt:lpstr>Problem Statement</vt:lpstr>
      <vt:lpstr>Dataset Overview</vt:lpstr>
      <vt:lpstr>KPIs</vt:lpstr>
      <vt:lpstr>Sales by Category</vt:lpstr>
      <vt:lpstr>Sales by Region</vt:lpstr>
      <vt:lpstr>Sales by Segment</vt:lpstr>
      <vt:lpstr>Sales by year</vt:lpstr>
      <vt:lpstr>Data Story</vt:lpstr>
      <vt:lpstr>Key Insights</vt:lpstr>
      <vt:lpstr>Business Recommendations</vt:lpstr>
      <vt:lpstr>Conclusion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Meghana Narala</dc:creator>
  <cp:lastModifiedBy>Meghana Narala</cp:lastModifiedBy>
  <cp:revision>1</cp:revision>
  <dcterms:created xsi:type="dcterms:W3CDTF">2026-04-08T06:46:16Z</dcterms:created>
  <dcterms:modified xsi:type="dcterms:W3CDTF">2026-04-08T07:04:04Z</dcterms:modified>
</cp:coreProperties>
</file>